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IBCN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A0A0A0"/>
                </a:solidFill>
              </a:defRPr>
            </a:pPr>
            <a:r>
              <a:t>Excel Workflow Automation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B0011"/>
                </a:solidFill>
              </a:defRPr>
            </a:pPr>
            <a:r>
              <a:t>Version 1.0.0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0A0A0"/>
                </a:solidFill>
              </a:defRPr>
            </a:pPr>
            <a:r>
              <a:t>2025 IBCN Finance.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Product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A0A0"/>
                </a:solidFill>
              </a:defRPr>
            </a:pPr>
            <a:r>
              <a:t>Excel Workflow Automation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is Excel Workflow Automation Tool?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A data processing automation tool designed for the finance industry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Build data processing flows with visual node editor - no programming needed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Supports reading, transforming, merging, analyzing and outputting Excel data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Ideal for report generation, data cleaning, batch processing scenarios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Core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560320" cy="2011680"/>
          </a:xfrm>
          <a:prstGeom prst="roundRect">
            <a:avLst/>
          </a:prstGeom>
          <a:solidFill>
            <a:srgbClr val="2D2D3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256032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74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Visual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0A0"/>
                </a:solidFill>
              </a:defRPr>
            </a:pPr>
            <a:r>
              <a:t>Drag-and-drop node editor</a:t>
            </a:r>
          </a:p>
          <a:p>
            <a:pPr>
              <a:defRPr sz="1400">
                <a:solidFill>
                  <a:srgbClr val="A0A0A0"/>
                </a:solidFill>
              </a:defRPr>
            </a:pPr>
            <a:r>
              <a:t>Intuitive connection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60320" cy="2011680"/>
          </a:xfrm>
          <a:prstGeom prst="roundRect">
            <a:avLst/>
          </a:prstGeom>
          <a:solidFill>
            <a:srgbClr val="2D2D3D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64592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874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Rich Node Library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317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0A0"/>
                </a:solidFill>
              </a:defRPr>
            </a:pPr>
            <a:r>
              <a:t>30+ data processing nodes</a:t>
            </a:r>
          </a:p>
          <a:p>
            <a:pPr>
              <a:defRPr sz="1400">
                <a:solidFill>
                  <a:srgbClr val="A0A0A0"/>
                </a:solidFill>
              </a:defRPr>
            </a:pPr>
            <a:r>
              <a:t>Custom extension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45920"/>
            <a:ext cx="2560320" cy="2011680"/>
          </a:xfrm>
          <a:prstGeom prst="roundRect">
            <a:avLst/>
          </a:prstGeom>
          <a:solidFill>
            <a:srgbClr val="2D2D3D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645920"/>
            <a:ext cx="25603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74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317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0A0"/>
                </a:solidFill>
              </a:defRPr>
            </a:pPr>
            <a:r>
              <a:t>Batch process Excel files</a:t>
            </a:r>
          </a:p>
          <a:p>
            <a:pPr>
              <a:defRPr sz="1400">
                <a:solidFill>
                  <a:srgbClr val="A0A0A0"/>
                </a:solidFill>
              </a:defRPr>
            </a:pPr>
            <a:r>
              <a:t>Scheduled task execution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645920"/>
            <a:ext cx="2560320" cy="2011680"/>
          </a:xfrm>
          <a:prstGeom prst="roundRect">
            <a:avLst/>
          </a:prstGeom>
          <a:solidFill>
            <a:srgbClr val="2D2D3D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645920"/>
            <a:ext cx="256032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874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Data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3317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0A0"/>
                </a:solidFill>
              </a:defRPr>
            </a:pPr>
            <a:r>
              <a:t>Local data processing</a:t>
            </a:r>
          </a:p>
          <a:p>
            <a:pPr>
              <a:defRPr sz="1400">
                <a:solidFill>
                  <a:srgbClr val="A0A0A0"/>
                </a:solidFill>
              </a:defRPr>
            </a:pPr>
            <a:r>
              <a:t>Auto-save mechanism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Feature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A0A0"/>
                </a:solidFill>
              </a:defRPr>
            </a:pPr>
            <a:r>
              <a:t>In-depth look at capabilities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Node Types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743200" cy="4572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Input/Output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Read Excel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Write Excel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Read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Write 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71600"/>
            <a:ext cx="274320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44475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0116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Filter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423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Select Columns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346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Rename 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461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Sort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371600"/>
            <a:ext cx="274320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44475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116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Merge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23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Group Aggregate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346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Pivot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461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Split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371600"/>
            <a:ext cx="2743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44475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0116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Conditional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423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Calculate Column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8346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Fill Null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2461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Type Convert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Workflow Process</a:t>
            </a:r>
          </a:p>
        </p:txBody>
      </p:sp>
      <p:sp>
        <p:nvSpPr>
          <p:cNvPr id="5" name="Oval 4"/>
          <p:cNvSpPr/>
          <p:nvPr/>
        </p:nvSpPr>
        <p:spPr>
          <a:xfrm>
            <a:off x="1508760" y="2286000"/>
            <a:ext cx="731520" cy="731520"/>
          </a:xfrm>
          <a:prstGeom prst="ellipse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24231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Select 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0A0A0"/>
                </a:solidFill>
              </a:defRPr>
            </a:pPr>
            <a:r>
              <a:t>Drag nodes from</a:t>
            </a:r>
          </a:p>
          <a:p>
            <a:pPr algn="ctr">
              <a:defRPr sz="1400">
                <a:solidFill>
                  <a:srgbClr val="A0A0A0"/>
                </a:solidFill>
              </a:defRPr>
            </a:pPr>
            <a:r>
              <a:t>the left panel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2514600"/>
            <a:ext cx="365760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43400" y="2286000"/>
            <a:ext cx="731520" cy="731520"/>
          </a:xfrm>
          <a:prstGeom prst="ellipse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4231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004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Configure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657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0A0A0"/>
                </a:solidFill>
              </a:defRPr>
            </a:pPr>
            <a:r>
              <a:t>Set processing</a:t>
            </a:r>
          </a:p>
          <a:p>
            <a:pPr algn="ctr">
              <a:defRPr sz="1400">
                <a:solidFill>
                  <a:srgbClr val="A0A0A0"/>
                </a:solidFill>
              </a:defRPr>
            </a:pPr>
            <a:r>
              <a:t>parameters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43600" y="2514600"/>
            <a:ext cx="365760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78040" y="2286000"/>
            <a:ext cx="731520" cy="731520"/>
          </a:xfrm>
          <a:prstGeom prst="ellipse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4231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Connect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0A0A0"/>
                </a:solidFill>
              </a:defRPr>
            </a:pPr>
            <a:r>
              <a:t>Link node ports</a:t>
            </a:r>
          </a:p>
          <a:p>
            <a:pPr algn="ctr">
              <a:defRPr sz="1400">
                <a:solidFill>
                  <a:srgbClr val="A0A0A0"/>
                </a:solidFill>
              </a:defRPr>
            </a:pPr>
            <a:r>
              <a:t>for data flow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778240" y="2514600"/>
            <a:ext cx="365760" cy="27432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12680" y="2286000"/>
            <a:ext cx="731520" cy="731520"/>
          </a:xfrm>
          <a:prstGeom prst="ellipse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24231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2004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Execute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657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0A0A0"/>
                </a:solidFill>
              </a:defRPr>
            </a:pPr>
            <a:r>
              <a:t>Run workflow</a:t>
            </a:r>
          </a:p>
          <a:p>
            <a:pPr algn="ctr">
              <a:defRPr sz="1400">
                <a:solidFill>
                  <a:srgbClr val="A0A0A0"/>
                </a:solidFill>
              </a:defRPr>
            </a:pPr>
            <a:r>
              <a:t>with one click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Keyboard Shortcuts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828800" cy="457200"/>
          </a:xfrm>
          <a:prstGeom prst="roundRect">
            <a:avLst/>
          </a:prstGeom>
          <a:solidFill>
            <a:srgbClr val="2D2D3D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Ctrl +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44475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0A0"/>
                </a:solidFill>
              </a:defRPr>
            </a:pPr>
            <a:r>
              <a:t>New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1828800" cy="457200"/>
          </a:xfrm>
          <a:prstGeom prst="roundRect">
            <a:avLst/>
          </a:prstGeom>
          <a:solidFill>
            <a:srgbClr val="2D2D3D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Ctrl + 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0848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0A0"/>
                </a:solidFill>
              </a:defRPr>
            </a:pPr>
            <a:r>
              <a:t>Open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651760"/>
            <a:ext cx="1828800" cy="457200"/>
          </a:xfrm>
          <a:prstGeom prst="roundRect">
            <a:avLst/>
          </a:prstGeom>
          <a:solidFill>
            <a:srgbClr val="2D2D3D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Ctrl +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72491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0A0"/>
                </a:solidFill>
              </a:defRPr>
            </a:pPr>
            <a:r>
              <a:t>Save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91840"/>
            <a:ext cx="1828800" cy="457200"/>
          </a:xfrm>
          <a:prstGeom prst="roundRect">
            <a:avLst/>
          </a:prstGeom>
          <a:solidFill>
            <a:srgbClr val="2D2D3D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6499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Ctrl + 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3649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0A0"/>
                </a:solidFill>
              </a:defRPr>
            </a:pPr>
            <a:r>
              <a:t>Undo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31920"/>
            <a:ext cx="1828800" cy="457200"/>
          </a:xfrm>
          <a:prstGeom prst="roundRect">
            <a:avLst/>
          </a:prstGeom>
          <a:solidFill>
            <a:srgbClr val="2D2D3D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0507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Ctrl + 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00507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0A0"/>
                </a:solidFill>
              </a:defRPr>
            </a:pPr>
            <a:r>
              <a:t>Redo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0"/>
            <a:ext cx="1828800" cy="457200"/>
          </a:xfrm>
          <a:prstGeom prst="roundRect">
            <a:avLst/>
          </a:prstGeom>
          <a:solidFill>
            <a:srgbClr val="2D2D3D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44475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Ctrl + 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44475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0A0"/>
                </a:solidFill>
              </a:defRPr>
            </a:pPr>
            <a:r>
              <a:t>Toggle Theme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011680"/>
            <a:ext cx="1828800" cy="457200"/>
          </a:xfrm>
          <a:prstGeom prst="roundRect">
            <a:avLst/>
          </a:prstGeom>
          <a:solidFill>
            <a:srgbClr val="2D2D3D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08483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Ctrl + 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0848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0A0"/>
                </a:solidFill>
              </a:defRPr>
            </a:pPr>
            <a:r>
              <a:t>Refresh Workflow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651760"/>
            <a:ext cx="1828800" cy="457200"/>
          </a:xfrm>
          <a:prstGeom prst="roundRect">
            <a:avLst/>
          </a:prstGeom>
          <a:solidFill>
            <a:srgbClr val="2D2D3D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72491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72491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0A0"/>
                </a:solidFill>
              </a:defRPr>
            </a:pPr>
            <a:r>
              <a:t>Execute Workflow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291840"/>
            <a:ext cx="1828800" cy="457200"/>
          </a:xfrm>
          <a:prstGeom prst="roundRect">
            <a:avLst/>
          </a:prstGeom>
          <a:solidFill>
            <a:srgbClr val="2D2D3D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36499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3649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0A0"/>
                </a:solidFill>
              </a:defRPr>
            </a:pPr>
            <a:r>
              <a:t>Delete Node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931920"/>
            <a:ext cx="1828800" cy="457200"/>
          </a:xfrm>
          <a:prstGeom prst="roundRect">
            <a:avLst/>
          </a:prstGeom>
          <a:solidFill>
            <a:srgbClr val="2D2D3D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00507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Scroll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00507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0A0"/>
                </a:solidFill>
              </a:defRPr>
            </a:pPr>
            <a:r>
              <a:t>Zoom Canvas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Technology &amp; Benefits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560320" cy="1645920"/>
          </a:xfrm>
          <a:prstGeom prst="roundRect">
            <a:avLst/>
          </a:prstGeom>
          <a:solidFill>
            <a:srgbClr val="2D2D3D"/>
          </a:solidFill>
          <a:ln w="2540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Python 3.x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0A0"/>
                </a:solidFill>
              </a:defRPr>
            </a:pPr>
            <a:r>
              <a:t>Core Runtime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60320" cy="1645920"/>
          </a:xfrm>
          <a:prstGeom prst="roundRect">
            <a:avLst/>
          </a:prstGeom>
          <a:solidFill>
            <a:srgbClr val="2D2D3D"/>
          </a:solidFill>
          <a:ln w="2540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1945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PyQt6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7432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0A0"/>
                </a:solidFill>
              </a:defRPr>
            </a:pPr>
            <a:r>
              <a:t>Desktop GUI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2560320" cy="1645920"/>
          </a:xfrm>
          <a:prstGeom prst="roundRect">
            <a:avLst/>
          </a:prstGeom>
          <a:solidFill>
            <a:srgbClr val="2D2D3D"/>
          </a:solidFill>
          <a:ln w="2540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7432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0A0"/>
                </a:solidFill>
              </a:defRPr>
            </a:pPr>
            <a:r>
              <a:t>Data Processing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828800"/>
            <a:ext cx="2560320" cy="1645920"/>
          </a:xfrm>
          <a:prstGeom prst="roundRect">
            <a:avLst/>
          </a:prstGeom>
          <a:solidFill>
            <a:srgbClr val="2D2D3D"/>
          </a:solidFill>
          <a:ln w="2540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21945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OpenPyXL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7432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0A0"/>
                </a:solidFill>
              </a:defRPr>
            </a:pPr>
            <a:r>
              <a:t>Excel Read/Write Library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No Programming Required - Visual drag-and-drop, accessible to everyone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High Efficiency - Batch process Excel files, save time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Reusable Workflows - Save and re-run with one click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Error Prevention - Reduce manual errors, improve accuracy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Local Processing - Data security, no cloud upload required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Auto-Save - Automatic saving on close prevents data loss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IBCN Finance Excel Workflow Automation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0A0A0"/>
                </a:solidFill>
              </a:defRPr>
            </a:pPr>
            <a:r>
              <a:t>For questions, please contact the technical support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0A0A0"/>
                </a:solidFill>
              </a:defRPr>
            </a:pPr>
            <a:r>
              <a:t>2025 IBCN Finance.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